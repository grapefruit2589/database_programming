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59" r:id="rId4"/>
    <p:sldId id="270" r:id="rId5"/>
    <p:sldId id="271" r:id="rId6"/>
    <p:sldId id="272" r:id="rId7"/>
    <p:sldId id="260" r:id="rId8"/>
    <p:sldId id="273" r:id="rId9"/>
    <p:sldId id="262" r:id="rId10"/>
    <p:sldId id="261" r:id="rId11"/>
    <p:sldId id="265" r:id="rId12"/>
    <p:sldId id="267" r:id="rId13"/>
    <p:sldId id="274" r:id="rId14"/>
    <p:sldId id="268" r:id="rId15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000000"/>
          </p15:clr>
        </p15:guide>
        <p15:guide id="2" pos="287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50" y="62"/>
      </p:cViewPr>
      <p:guideLst>
        <p:guide orient="horz" pos="2159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B219882-A4D0-5898-B515-3D602CEE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75EB684-7AD4-2127-A5CF-B8785854E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90CFB09F-84DD-5612-5901-B9F83E7F0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277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6DF876D-6548-412E-DCE5-FE3ABA6F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F2425682-D2BC-9B55-D3C0-8035BBFC7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2C740B9-F86D-6729-AED2-A30CA4C2F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3173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7ACD1A1-0E5D-AE2B-559A-2F8EC664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60E5B6E9-7EF3-30D4-1088-49795E639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9EF4747-AA8C-5910-A373-6FEA827F2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8065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093B19F-A1A1-C1C3-7F41-3409BBB7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4BEE98E-9F0E-AAE8-4D04-29DE4AA10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638000A0-9A09-C0E9-A78F-C36DCB806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404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FE0B67FC-F91D-2150-7562-25192CF0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>
            <a:extLst>
              <a:ext uri="{FF2B5EF4-FFF2-40B4-BE49-F238E27FC236}">
                <a16:creationId xmlns:a16="http://schemas.microsoft.com/office/drawing/2014/main" id="{A940E327-FBBB-18B0-2D98-FB86101C1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>
            <a:extLst>
              <a:ext uri="{FF2B5EF4-FFF2-40B4-BE49-F238E27FC236}">
                <a16:creationId xmlns:a16="http://schemas.microsoft.com/office/drawing/2014/main" id="{6C530DC6-BEF9-F333-2C2A-B46077EF2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993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B0673B6A-C53A-712C-0809-D28DD889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>
            <a:extLst>
              <a:ext uri="{FF2B5EF4-FFF2-40B4-BE49-F238E27FC236}">
                <a16:creationId xmlns:a16="http://schemas.microsoft.com/office/drawing/2014/main" id="{0F00BCB7-F4A1-84F9-5CD2-0BF4C1472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>
            <a:extLst>
              <a:ext uri="{FF2B5EF4-FFF2-40B4-BE49-F238E27FC236}">
                <a16:creationId xmlns:a16="http://schemas.microsoft.com/office/drawing/2014/main" id="{CD7167EA-1F7C-9ED6-BFD2-B88FF67FD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80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/>
            </a:gs>
            <a:gs pos="100000">
              <a:srgbClr val="FFFFFF"/>
            </a:gs>
          </a:gsLst>
          <a:lin ang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458720" y="1747520"/>
            <a:ext cx="12171680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800" dirty="0">
                <a:solidFill>
                  <a:srgbClr val="191919"/>
                </a:solidFill>
              </a:rPr>
              <a:t>학습관리 시스템</a:t>
            </a:r>
            <a:r>
              <a:rPr lang="en-US" altLang="ko-KR" sz="8800" dirty="0">
                <a:solidFill>
                  <a:srgbClr val="191919"/>
                </a:solidFill>
              </a:rPr>
              <a:t>(LMS)</a:t>
            </a:r>
            <a:endParaRPr sz="8800" dirty="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4530" y="7780020"/>
            <a:ext cx="2546985" cy="75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499" dirty="0" err="1">
                <a:solidFill>
                  <a:srgbClr val="090807"/>
                </a:solidFill>
              </a:rPr>
              <a:t>김명헌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84530" y="8657590"/>
            <a:ext cx="8877300" cy="753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3495" b="0" i="0" strike="noStrike" cap="none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20200601 김경석 </a:t>
            </a:r>
            <a:endParaRPr lang="ko-KR" altLang="en-US" sz="3495" b="0" i="0" strike="noStrike" cap="none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2571602" y="4374000"/>
            <a:ext cx="11735100" cy="21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23919" marR="0" lvl="2" algn="ctr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</a:pPr>
            <a:r>
              <a:rPr lang="ko-KR" altLang="en-US" sz="99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프로젝트 개요</a:t>
            </a:r>
            <a:endParaRPr lang="ko-KR" altLang="en-US" dirty="0"/>
          </a:p>
        </p:txBody>
      </p:sp>
      <p:sp>
        <p:nvSpPr>
          <p:cNvPr id="108" name="Google Shape;108;p15"/>
          <p:cNvSpPr/>
          <p:nvPr/>
        </p:nvSpPr>
        <p:spPr>
          <a:xfrm>
            <a:off x="0" y="1743475"/>
            <a:ext cx="468239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Google Shape;109;p15"/>
          <p:cNvSpPr txBox="1"/>
          <p:nvPr/>
        </p:nvSpPr>
        <p:spPr>
          <a:xfrm>
            <a:off x="1028700" y="388937"/>
            <a:ext cx="2186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8" b="0" i="0" u="none" strike="noStrike" cap="none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서론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999675" y="437575"/>
            <a:ext cx="6227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ko-KR" sz="6998" dirty="0">
                <a:solidFill>
                  <a:srgbClr val="191919"/>
                </a:solidFill>
              </a:rPr>
              <a:t>  </a:t>
            </a:r>
            <a:r>
              <a:rPr lang="ko-KR" altLang="en-US" sz="6998" dirty="0">
                <a:solidFill>
                  <a:srgbClr val="191919"/>
                </a:solidFill>
              </a:rPr>
              <a:t>개요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2025년 고교학점제 실시, 어떻게 바뀌나? (그래픽=박지영 기자)">
            <a:extLst>
              <a:ext uri="{FF2B5EF4-FFF2-40B4-BE49-F238E27FC236}">
                <a16:creationId xmlns:a16="http://schemas.microsoft.com/office/drawing/2014/main" id="{4848A03A-974E-4305-111F-58B0A1D9C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849" y="1946460"/>
            <a:ext cx="14028931" cy="790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62EE8122-7E89-4328-CBDD-718B098B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2B07DF55-B42E-235B-D79A-25C95BE402BE}"/>
              </a:ext>
            </a:extLst>
          </p:cNvPr>
          <p:cNvSpPr txBox="1"/>
          <p:nvPr/>
        </p:nvSpPr>
        <p:spPr>
          <a:xfrm>
            <a:off x="999675" y="437575"/>
            <a:ext cx="6227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en-US" sz="6998" dirty="0">
                <a:solidFill>
                  <a:srgbClr val="191919"/>
                </a:solidFill>
              </a:rPr>
              <a:t>  </a:t>
            </a:r>
            <a:r>
              <a:rPr lang="ko-KR" altLang="en-US" sz="6998" dirty="0">
                <a:solidFill>
                  <a:srgbClr val="191919"/>
                </a:solidFill>
              </a:rPr>
              <a:t>목표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D8D47E48-94B9-4F15-3450-C330330F2AF5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5D3F9-8030-7F40-CC33-BD801DF7F8EF}"/>
              </a:ext>
            </a:extLst>
          </p:cNvPr>
          <p:cNvSpPr txBox="1"/>
          <p:nvPr/>
        </p:nvSpPr>
        <p:spPr>
          <a:xfrm>
            <a:off x="1365209" y="2565728"/>
            <a:ext cx="146534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Eclipse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기반 </a:t>
            </a: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Java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웹 환경에서 Oracle </a:t>
            </a: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DB와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연동되는</a:t>
            </a:r>
            <a:r>
              <a:rPr lang="en-US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학습관리시스템의 핵심 기능을 구현.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학생의 수강 진행 상태와 성취 결과를 분리하여 관리할 수 </a:t>
            </a: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있는데이터베이스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구조 설계.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2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468B8AB9-3E96-F324-DD41-CE3B6A56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F9D8A99E-A785-43D8-5332-99E161740682}"/>
              </a:ext>
            </a:extLst>
          </p:cNvPr>
          <p:cNvSpPr txBox="1"/>
          <p:nvPr/>
        </p:nvSpPr>
        <p:spPr>
          <a:xfrm>
            <a:off x="999675" y="437575"/>
            <a:ext cx="6227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en-US" sz="6998" dirty="0">
                <a:solidFill>
                  <a:srgbClr val="191919"/>
                </a:solidFill>
              </a:rPr>
              <a:t>  </a:t>
            </a:r>
            <a:r>
              <a:rPr lang="ko-KR" altLang="en-US" sz="6998" dirty="0">
                <a:solidFill>
                  <a:srgbClr val="191919"/>
                </a:solidFill>
              </a:rPr>
              <a:t>구현범위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CB8B0AB0-95D8-ECFB-FB4A-FA96C7BC3D5A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8804A-3B51-A77B-1620-4FB8163B984B}"/>
              </a:ext>
            </a:extLst>
          </p:cNvPr>
          <p:cNvSpPr txBox="1"/>
          <p:nvPr/>
        </p:nvSpPr>
        <p:spPr>
          <a:xfrm>
            <a:off x="1365209" y="2565728"/>
            <a:ext cx="1465343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학생 기본 정보 관리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과목 및 학기별 개설과목 관리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학생의 수강중인 과목 관리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수업 종료 후 성취 결과 저장 구조 설계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창의적 체험활동 실적 관리</a:t>
            </a:r>
            <a:endParaRPr lang="en-US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JSP, </a:t>
            </a: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Servlet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4000" dirty="0" err="1">
                <a:solidFill>
                  <a:schemeClr val="tx1"/>
                </a:solidFill>
                <a:latin typeface="Arial" panose="020B0604020202020204" pitchFamily="34" charset="0"/>
              </a:rPr>
              <a:t>DAO를</a:t>
            </a:r>
            <a:r>
              <a:rPr lang="ko-KR" altLang="ko-KR" sz="4000" dirty="0">
                <a:solidFill>
                  <a:schemeClr val="tx1"/>
                </a:solidFill>
                <a:latin typeface="Arial" panose="020B0604020202020204" pitchFamily="34" charset="0"/>
              </a:rPr>
              <a:t> 이용한 DB 연동 웹 구조 구현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1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5BCC55DC-3531-B92A-0FA7-FD543624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874B4E46-06CA-869F-9D95-294A5B72353D}"/>
              </a:ext>
            </a:extLst>
          </p:cNvPr>
          <p:cNvSpPr txBox="1"/>
          <p:nvPr/>
        </p:nvSpPr>
        <p:spPr>
          <a:xfrm>
            <a:off x="999675" y="437575"/>
            <a:ext cx="9486428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ko-KR" altLang="en-US" sz="6998" dirty="0">
                <a:solidFill>
                  <a:srgbClr val="191919"/>
                </a:solidFill>
              </a:rPr>
              <a:t>테이블 구성 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3F82E078-2396-94A5-43C5-C70BF2275222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 descr="텍스트, 스크린샷, 번호, 폰트이(가) 표시된 사진">
            <a:extLst>
              <a:ext uri="{FF2B5EF4-FFF2-40B4-BE49-F238E27FC236}">
                <a16:creationId xmlns:a16="http://schemas.microsoft.com/office/drawing/2014/main" id="{5B5F27A1-3C5D-6364-80A0-AEB471E60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50" y="2506400"/>
            <a:ext cx="8556650" cy="6819860"/>
          </a:xfrm>
          <a:prstGeom prst="rect">
            <a:avLst/>
          </a:prstGeom>
        </p:spPr>
      </p:pic>
      <p:sp>
        <p:nvSpPr>
          <p:cNvPr id="7" name="Google Shape;123;p16">
            <a:extLst>
              <a:ext uri="{FF2B5EF4-FFF2-40B4-BE49-F238E27FC236}">
                <a16:creationId xmlns:a16="http://schemas.microsoft.com/office/drawing/2014/main" id="{7DF4B165-5CFE-6B77-E5A6-94CD1932C0DE}"/>
              </a:ext>
            </a:extLst>
          </p:cNvPr>
          <p:cNvSpPr/>
          <p:nvPr/>
        </p:nvSpPr>
        <p:spPr>
          <a:xfrm>
            <a:off x="9499870" y="3227873"/>
            <a:ext cx="7748957" cy="4907280"/>
          </a:xfrm>
          <a:custGeom>
            <a:avLst/>
            <a:gdLst/>
            <a:ahLst/>
            <a:cxnLst/>
            <a:rect l="l" t="t" r="r" b="b"/>
            <a:pathLst>
              <a:path w="9036685" h="4267200" extrusionOk="0">
                <a:moveTo>
                  <a:pt x="0" y="711200"/>
                </a:moveTo>
                <a:cubicBezTo>
                  <a:pt x="0" y="318389"/>
                  <a:pt x="319786" y="0"/>
                  <a:pt x="714121" y="0"/>
                </a:cubicBezTo>
                <a:lnTo>
                  <a:pt x="8322564" y="0"/>
                </a:lnTo>
                <a:cubicBezTo>
                  <a:pt x="8717026" y="0"/>
                  <a:pt x="9036685" y="318389"/>
                  <a:pt x="9036685" y="711200"/>
                </a:cubicBezTo>
                <a:lnTo>
                  <a:pt x="9036685" y="3556000"/>
                </a:lnTo>
                <a:cubicBezTo>
                  <a:pt x="9036685" y="3948811"/>
                  <a:pt x="8716899" y="4267200"/>
                  <a:pt x="8322564" y="4267200"/>
                </a:cubicBezTo>
                <a:lnTo>
                  <a:pt x="714248" y="4267200"/>
                </a:lnTo>
                <a:cubicBezTo>
                  <a:pt x="319786" y="4267200"/>
                  <a:pt x="127" y="3948811"/>
                  <a:pt x="127" y="3556000"/>
                </a:cubicBezTo>
                <a:close/>
              </a:path>
            </a:pathLst>
          </a:custGeom>
          <a:solidFill>
            <a:srgbClr val="EFEFE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25;p16">
            <a:extLst>
              <a:ext uri="{FF2B5EF4-FFF2-40B4-BE49-F238E27FC236}">
                <a16:creationId xmlns:a16="http://schemas.microsoft.com/office/drawing/2014/main" id="{BE3CCCC1-A888-8690-5154-4E1CA182EB41}"/>
              </a:ext>
            </a:extLst>
          </p:cNvPr>
          <p:cNvSpPr txBox="1"/>
          <p:nvPr/>
        </p:nvSpPr>
        <p:spPr>
          <a:xfrm>
            <a:off x="9925661" y="3834573"/>
            <a:ext cx="722100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3200" dirty="0"/>
              <a:t>학생 </a:t>
            </a:r>
            <a:r>
              <a:rPr lang="en-US" altLang="ko-KR" sz="3200" dirty="0"/>
              <a:t>1 : N </a:t>
            </a:r>
            <a:r>
              <a:rPr lang="ko-KR" altLang="en-US" sz="3200" dirty="0" err="1"/>
              <a:t>수강중인과목</a:t>
            </a:r>
            <a:endParaRPr lang="en-US" altLang="ko-KR" sz="3200" dirty="0"/>
          </a:p>
          <a:p>
            <a:pPr lvl="0">
              <a:lnSpc>
                <a:spcPct val="150000"/>
              </a:lnSpc>
            </a:pPr>
            <a:r>
              <a:rPr lang="ko-KR" altLang="en-US" sz="3200" dirty="0"/>
              <a:t>개설과목 </a:t>
            </a:r>
            <a:r>
              <a:rPr lang="en-US" altLang="ko-KR" sz="3200" dirty="0"/>
              <a:t>1 : N </a:t>
            </a:r>
            <a:r>
              <a:rPr lang="ko-KR" altLang="en-US" sz="3200" dirty="0" err="1"/>
              <a:t>수강중인과목</a:t>
            </a:r>
            <a:endParaRPr lang="en-US" altLang="ko-KR" sz="3200" dirty="0"/>
          </a:p>
          <a:p>
            <a:pPr lvl="0">
              <a:lnSpc>
                <a:spcPct val="150000"/>
              </a:lnSpc>
            </a:pPr>
            <a:r>
              <a:rPr lang="ko-KR" altLang="en-US" sz="3200" dirty="0" err="1"/>
              <a:t>수강중인과목</a:t>
            </a:r>
            <a:r>
              <a:rPr lang="ko-KR" altLang="en-US" sz="3200" dirty="0"/>
              <a:t> </a:t>
            </a:r>
            <a:r>
              <a:rPr lang="en-US" altLang="ko-KR" sz="3200" dirty="0"/>
              <a:t>1 : N </a:t>
            </a:r>
            <a:r>
              <a:rPr lang="ko-KR" altLang="en-US" sz="3200" dirty="0" err="1"/>
              <a:t>수강및성취기록</a:t>
            </a:r>
            <a:endParaRPr lang="en-US" altLang="ko-KR" sz="3200" dirty="0"/>
          </a:p>
          <a:p>
            <a:pPr lvl="0">
              <a:lnSpc>
                <a:spcPct val="150000"/>
              </a:lnSpc>
            </a:pPr>
            <a:r>
              <a:rPr lang="ko-KR" altLang="en-US" sz="3200" dirty="0"/>
              <a:t>학생 </a:t>
            </a:r>
            <a:r>
              <a:rPr lang="en-US" altLang="ko-KR" sz="3200" dirty="0"/>
              <a:t>1 : N </a:t>
            </a:r>
            <a:r>
              <a:rPr lang="ko-KR" altLang="en-US" sz="3200" dirty="0" err="1"/>
              <a:t>창체활동</a:t>
            </a:r>
            <a:endParaRPr lang="en-US" altLang="ko-KR" sz="3200" dirty="0"/>
          </a:p>
          <a:p>
            <a:pPr lvl="0">
              <a:lnSpc>
                <a:spcPct val="150000"/>
              </a:lnSpc>
            </a:pPr>
            <a:r>
              <a:rPr lang="ko-KR" altLang="en-US" sz="3200" dirty="0"/>
              <a:t>교사 </a:t>
            </a:r>
            <a:r>
              <a:rPr lang="en-US" altLang="ko-KR" sz="3200" dirty="0"/>
              <a:t>1 : N </a:t>
            </a:r>
            <a:r>
              <a:rPr lang="ko-KR" altLang="en-US" sz="3200" dirty="0"/>
              <a:t>개설과목</a:t>
            </a:r>
          </a:p>
        </p:txBody>
      </p:sp>
      <p:sp>
        <p:nvSpPr>
          <p:cNvPr id="9" name="Google Shape;132;p16">
            <a:extLst>
              <a:ext uri="{FF2B5EF4-FFF2-40B4-BE49-F238E27FC236}">
                <a16:creationId xmlns:a16="http://schemas.microsoft.com/office/drawing/2014/main" id="{3776B5F7-D593-C57F-00D0-7DE80BBEC396}"/>
              </a:ext>
            </a:extLst>
          </p:cNvPr>
          <p:cNvSpPr/>
          <p:nvPr/>
        </p:nvSpPr>
        <p:spPr>
          <a:xfrm>
            <a:off x="11988795" y="2947246"/>
            <a:ext cx="2771100" cy="568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3;p16">
            <a:extLst>
              <a:ext uri="{FF2B5EF4-FFF2-40B4-BE49-F238E27FC236}">
                <a16:creationId xmlns:a16="http://schemas.microsoft.com/office/drawing/2014/main" id="{41F2F1B5-85A4-E709-D0F8-5686A37AB5BE}"/>
              </a:ext>
            </a:extLst>
          </p:cNvPr>
          <p:cNvSpPr txBox="1"/>
          <p:nvPr/>
        </p:nvSpPr>
        <p:spPr>
          <a:xfrm>
            <a:off x="12167670" y="2863426"/>
            <a:ext cx="24741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/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848289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-1104150" y="4289250"/>
            <a:ext cx="20496300" cy="239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100" b="0" i="0" u="none" strike="noStrike" cap="none" dirty="0">
                <a:solidFill>
                  <a:srgbClr val="090807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ko-KR" altLang="en-US" sz="11100" dirty="0">
                <a:solidFill>
                  <a:srgbClr val="090807"/>
                </a:solidFill>
              </a:rPr>
              <a:t>시스템 구현</a:t>
            </a:r>
            <a:endParaRPr lang="ko-KR" altLang="en-US" dirty="0"/>
          </a:p>
        </p:txBody>
      </p:sp>
      <p:sp>
        <p:nvSpPr>
          <p:cNvPr id="139" name="Google Shape;139;p17"/>
          <p:cNvSpPr/>
          <p:nvPr/>
        </p:nvSpPr>
        <p:spPr>
          <a:xfrm>
            <a:off x="0" y="1743475"/>
            <a:ext cx="468239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Google Shape;140;p17"/>
          <p:cNvSpPr txBox="1"/>
          <p:nvPr/>
        </p:nvSpPr>
        <p:spPr>
          <a:xfrm>
            <a:off x="1028700" y="388937"/>
            <a:ext cx="2186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8">
                <a:solidFill>
                  <a:srgbClr val="191919"/>
                </a:solidFill>
              </a:rPr>
              <a:t>본</a:t>
            </a:r>
            <a:r>
              <a:rPr lang="en-US" sz="6998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13">
          <a:extLst>
            <a:ext uri="{FF2B5EF4-FFF2-40B4-BE49-F238E27FC236}">
              <a16:creationId xmlns:a16="http://schemas.microsoft.com/office/drawing/2014/main" id="{BE568B69-59AF-141A-064D-8C5B53CD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38A06B02-8487-3EDB-E0B8-D0B0E0B51AE8}"/>
              </a:ext>
            </a:extLst>
          </p:cNvPr>
          <p:cNvSpPr txBox="1"/>
          <p:nvPr/>
        </p:nvSpPr>
        <p:spPr>
          <a:xfrm>
            <a:off x="999675" y="437575"/>
            <a:ext cx="6227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en-US" sz="6998" dirty="0">
                <a:solidFill>
                  <a:srgbClr val="191919"/>
                </a:solidFill>
              </a:rPr>
              <a:t>  </a:t>
            </a:r>
            <a:r>
              <a:rPr lang="ko-KR" altLang="en-US" sz="6998" dirty="0">
                <a:solidFill>
                  <a:srgbClr val="191919"/>
                </a:solidFill>
              </a:rPr>
              <a:t>구현구조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8F5AC734-5BD6-D9C8-5719-AD9D48E98975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D0A361F-30B5-AE62-48CB-33F74A139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86400" y="4572000"/>
            <a:ext cx="2984500" cy="203200"/>
          </a:xfrm>
          <a:prstGeom prst="rect">
            <a:avLst/>
          </a:prstGeom>
          <a:noFill/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4F25C219-1B2E-1855-A216-BB077DF10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2374900"/>
            <a:ext cx="4559300" cy="4559300"/>
          </a:xfrm>
          <a:prstGeom prst="rect">
            <a:avLst/>
          </a:prstGeom>
          <a:noFill/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6A3E33B-DB5B-7F26-D89B-09971D61B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7023100"/>
            <a:ext cx="2946400" cy="203200"/>
          </a:xfrm>
          <a:prstGeom prst="rect">
            <a:avLst/>
          </a:prstGeom>
          <a:noFill/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E46440A-A011-9580-625D-05C7BD5D1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0">
            <a:off x="-939800" y="5753100"/>
            <a:ext cx="2984500" cy="203200"/>
          </a:xfrm>
          <a:prstGeom prst="rect">
            <a:avLst/>
          </a:prstGeom>
          <a:noFill/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4240A3A-DDDF-6377-9ACE-B59BBF03E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0">
            <a:off x="3340100" y="5791200"/>
            <a:ext cx="2946400" cy="203200"/>
          </a:xfrm>
          <a:prstGeom prst="rect">
            <a:avLst/>
          </a:prstGeom>
          <a:noFill/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D2DC6CC1-1D9A-850D-4EC6-AD3A20CF05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7100" y="7023100"/>
            <a:ext cx="2946400" cy="203200"/>
          </a:xfrm>
          <a:prstGeom prst="rect">
            <a:avLst/>
          </a:prstGeom>
          <a:noFill/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D4080A8A-172A-B7DE-9246-E22D3042E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00">
            <a:off x="11925300" y="5753100"/>
            <a:ext cx="2984500" cy="203200"/>
          </a:xfrm>
          <a:prstGeom prst="rect">
            <a:avLst/>
          </a:prstGeom>
          <a:noFill/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2C491FC9-C939-E3CD-B50D-2BAEBAC7C7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00000">
            <a:off x="7683500" y="5791200"/>
            <a:ext cx="2946400" cy="203200"/>
          </a:xfrm>
          <a:prstGeom prst="rect">
            <a:avLst/>
          </a:prstGeom>
          <a:noFill/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E43EFB45-1966-B06D-AF06-AE70106F71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5511800" y="4572000"/>
            <a:ext cx="2984500" cy="203200"/>
          </a:xfrm>
          <a:prstGeom prst="rect">
            <a:avLst/>
          </a:prstGeom>
          <a:noFill/>
        </p:spPr>
      </p:pic>
      <p:pic>
        <p:nvPicPr>
          <p:cNvPr id="15" name="Picture 13">
            <a:extLst>
              <a:ext uri="{FF2B5EF4-FFF2-40B4-BE49-F238E27FC236}">
                <a16:creationId xmlns:a16="http://schemas.microsoft.com/office/drawing/2014/main" id="{F6E4F283-CB1A-2A29-7E8C-8B97BB03E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00000">
            <a:off x="16268700" y="5740400"/>
            <a:ext cx="2946400" cy="203200"/>
          </a:xfrm>
          <a:prstGeom prst="rect">
            <a:avLst/>
          </a:prstGeom>
          <a:noFill/>
        </p:spPr>
      </p:pic>
      <p:pic>
        <p:nvPicPr>
          <p:cNvPr id="16" name="Picture 14">
            <a:extLst>
              <a:ext uri="{FF2B5EF4-FFF2-40B4-BE49-F238E27FC236}">
                <a16:creationId xmlns:a16="http://schemas.microsoft.com/office/drawing/2014/main" id="{B6C8F722-7438-EADE-F2B2-36D9177A14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14097000" y="4521200"/>
            <a:ext cx="2984500" cy="203200"/>
          </a:xfrm>
          <a:prstGeom prst="rect">
            <a:avLst/>
          </a:prstGeom>
          <a:noFill/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A968FFFC-ECB5-941E-82C7-BDE0709670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9000" y="4851400"/>
            <a:ext cx="4559300" cy="4559300"/>
          </a:xfrm>
          <a:prstGeom prst="rect">
            <a:avLst/>
          </a:prstGeom>
          <a:noFill/>
        </p:spPr>
      </p:pic>
      <p:pic>
        <p:nvPicPr>
          <p:cNvPr id="18" name="Picture 16">
            <a:extLst>
              <a:ext uri="{FF2B5EF4-FFF2-40B4-BE49-F238E27FC236}">
                <a16:creationId xmlns:a16="http://schemas.microsoft.com/office/drawing/2014/main" id="{F47D1C98-15BB-A5AE-E68A-0FC7580306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0" y="2374900"/>
            <a:ext cx="4559300" cy="4559300"/>
          </a:xfrm>
          <a:prstGeom prst="rect">
            <a:avLst/>
          </a:prstGeom>
          <a:noFill/>
        </p:spPr>
      </p:pic>
      <p:pic>
        <p:nvPicPr>
          <p:cNvPr id="19" name="Picture 17">
            <a:extLst>
              <a:ext uri="{FF2B5EF4-FFF2-40B4-BE49-F238E27FC236}">
                <a16:creationId xmlns:a16="http://schemas.microsoft.com/office/drawing/2014/main" id="{2903C21F-9B4A-C6C5-1627-DE8EC8CBD3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0" y="4851400"/>
            <a:ext cx="4559300" cy="4559300"/>
          </a:xfrm>
          <a:prstGeom prst="rect">
            <a:avLst/>
          </a:prstGeom>
          <a:noFill/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89AA322C-2C28-95ED-9C4B-226A7693F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032000" y="6477000"/>
            <a:ext cx="1282700" cy="317500"/>
          </a:xfrm>
          <a:prstGeom prst="rect">
            <a:avLst/>
          </a:prstGeom>
          <a:noFill/>
        </p:spPr>
      </p:pic>
      <p:pic>
        <p:nvPicPr>
          <p:cNvPr id="21" name="Picture 19">
            <a:extLst>
              <a:ext uri="{FF2B5EF4-FFF2-40B4-BE49-F238E27FC236}">
                <a16:creationId xmlns:a16="http://schemas.microsoft.com/office/drawing/2014/main" id="{0E02AF95-8204-F9F8-590F-16CDB776C1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337300" y="4965700"/>
            <a:ext cx="1282700" cy="317500"/>
          </a:xfrm>
          <a:prstGeom prst="rect">
            <a:avLst/>
          </a:prstGeom>
          <a:noFill/>
        </p:spPr>
      </p:pic>
      <p:pic>
        <p:nvPicPr>
          <p:cNvPr id="22" name="Picture 20">
            <a:extLst>
              <a:ext uri="{FF2B5EF4-FFF2-40B4-BE49-F238E27FC236}">
                <a16:creationId xmlns:a16="http://schemas.microsoft.com/office/drawing/2014/main" id="{28287886-6ADA-1B8A-503E-94BA0FF1B1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693400" y="6502400"/>
            <a:ext cx="1282700" cy="317500"/>
          </a:xfrm>
          <a:prstGeom prst="rect">
            <a:avLst/>
          </a:prstGeom>
          <a:noFill/>
        </p:spPr>
      </p:pic>
      <p:pic>
        <p:nvPicPr>
          <p:cNvPr id="23" name="Picture 21">
            <a:extLst>
              <a:ext uri="{FF2B5EF4-FFF2-40B4-BE49-F238E27FC236}">
                <a16:creationId xmlns:a16="http://schemas.microsoft.com/office/drawing/2014/main" id="{13369AB5-9909-D44A-B81B-3DB82E28EA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998700" y="4940300"/>
            <a:ext cx="1282700" cy="317500"/>
          </a:xfrm>
          <a:prstGeom prst="rect">
            <a:avLst/>
          </a:prstGeom>
          <a:noFill/>
        </p:spPr>
      </p:pic>
      <p:sp>
        <p:nvSpPr>
          <p:cNvPr id="24" name="TextBox 22">
            <a:extLst>
              <a:ext uri="{FF2B5EF4-FFF2-40B4-BE49-F238E27FC236}">
                <a16:creationId xmlns:a16="http://schemas.microsoft.com/office/drawing/2014/main" id="{DA9A9708-505C-26B7-EF06-3F94C8DF19C2}"/>
              </a:ext>
            </a:extLst>
          </p:cNvPr>
          <p:cNvSpPr txBox="1"/>
          <p:nvPr/>
        </p:nvSpPr>
        <p:spPr>
          <a:xfrm>
            <a:off x="1016000" y="4165600"/>
            <a:ext cx="3289300" cy="965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1" i="0" u="none" strike="noStrike" dirty="0">
                <a:solidFill>
                  <a:schemeClr val="tx1"/>
                </a:solidFill>
                <a:latin typeface="+mj-lt"/>
              </a:rPr>
              <a:t>JSP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4273B93B-A46E-85AA-FF5D-3DC73E57CBD5}"/>
              </a:ext>
            </a:extLst>
          </p:cNvPr>
          <p:cNvSpPr txBox="1"/>
          <p:nvPr/>
        </p:nvSpPr>
        <p:spPr>
          <a:xfrm>
            <a:off x="1231900" y="7543800"/>
            <a:ext cx="2895600" cy="1866900"/>
          </a:xfrm>
          <a:prstGeom prst="rect">
            <a:avLst/>
          </a:prstGeom>
          <a:noFill/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</a:t>
            </a:r>
            <a:r>
              <a:rPr lang="ko-KR" sz="2100" b="1" i="0" u="none" strike="noStrike" dirty="0">
                <a:solidFill>
                  <a:schemeClr val="tx1"/>
                </a:solidFill>
                <a:latin typeface="+mj-lt"/>
                <a:ea typeface="Jalnan 2"/>
              </a:rPr>
              <a:t>사용자</a:t>
            </a: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2100" b="1" dirty="0">
                <a:solidFill>
                  <a:schemeClr val="tx1"/>
                </a:solidFill>
                <a:latin typeface="+mj-lt"/>
                <a:ea typeface="Jalnan 2"/>
              </a:rPr>
              <a:t>화면 제공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</a:t>
            </a:r>
            <a:r>
              <a:rPr lang="ko-KR" altLang="en-US" sz="2100" b="1" dirty="0" err="1">
                <a:solidFill>
                  <a:schemeClr val="tx1"/>
                </a:solidFill>
                <a:latin typeface="+mj-lt"/>
                <a:ea typeface="Jalnan 2"/>
              </a:rPr>
              <a:t>입력값</a:t>
            </a:r>
            <a:r>
              <a:rPr lang="ko-KR" altLang="en-US" sz="2100" b="1" dirty="0">
                <a:solidFill>
                  <a:schemeClr val="tx1"/>
                </a:solidFill>
                <a:latin typeface="+mj-lt"/>
                <a:ea typeface="Jalnan 2"/>
              </a:rPr>
              <a:t> 전달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D5D5A670-0E5C-DEA1-B7AD-52D947991E51}"/>
              </a:ext>
            </a:extLst>
          </p:cNvPr>
          <p:cNvSpPr txBox="1"/>
          <p:nvPr/>
        </p:nvSpPr>
        <p:spPr>
          <a:xfrm>
            <a:off x="9690100" y="4394200"/>
            <a:ext cx="3289300" cy="508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1" i="0" u="none" strike="noStrike" dirty="0">
                <a:solidFill>
                  <a:schemeClr val="tx1"/>
                </a:solidFill>
                <a:latin typeface="+mj-lt"/>
              </a:rPr>
              <a:t>DAO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2AD41D30-3786-BE88-372F-FC83E1B7677B}"/>
              </a:ext>
            </a:extLst>
          </p:cNvPr>
          <p:cNvSpPr txBox="1"/>
          <p:nvPr/>
        </p:nvSpPr>
        <p:spPr>
          <a:xfrm>
            <a:off x="5334000" y="6959600"/>
            <a:ext cx="3289300" cy="508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1" i="0" u="none" strike="noStrike" dirty="0">
                <a:solidFill>
                  <a:schemeClr val="tx1"/>
                </a:solidFill>
                <a:latin typeface="+mj-lt"/>
              </a:rPr>
              <a:t>Servlet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59541B87-E4D5-5C48-3198-1BB2258FCB7F}"/>
              </a:ext>
            </a:extLst>
          </p:cNvPr>
          <p:cNvSpPr txBox="1"/>
          <p:nvPr/>
        </p:nvSpPr>
        <p:spPr>
          <a:xfrm>
            <a:off x="13995400" y="6959600"/>
            <a:ext cx="3289300" cy="508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1" i="0" u="none" strike="noStrike" dirty="0">
                <a:solidFill>
                  <a:schemeClr val="tx1"/>
                </a:solidFill>
                <a:latin typeface="+mj-lt"/>
              </a:rPr>
              <a:t>Oracle DB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E5AEC645-8A65-6EF9-B995-D05087E64AEB}"/>
              </a:ext>
            </a:extLst>
          </p:cNvPr>
          <p:cNvSpPr txBox="1"/>
          <p:nvPr/>
        </p:nvSpPr>
        <p:spPr>
          <a:xfrm>
            <a:off x="9893300" y="7543800"/>
            <a:ext cx="2895600" cy="1866900"/>
          </a:xfrm>
          <a:prstGeom prst="rect">
            <a:avLst/>
          </a:prstGeom>
          <a:noFill/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</a:t>
            </a:r>
            <a:r>
              <a:rPr lang="en-US" sz="2100" b="1" dirty="0">
                <a:solidFill>
                  <a:schemeClr val="tx1"/>
                </a:solidFill>
                <a:latin typeface="+mj-lt"/>
              </a:rPr>
              <a:t>SQL </a:t>
            </a:r>
            <a:r>
              <a:rPr lang="ko-KR" altLang="en-US" sz="2100" b="1" dirty="0">
                <a:solidFill>
                  <a:schemeClr val="tx1"/>
                </a:solidFill>
                <a:latin typeface="+mj-lt"/>
              </a:rPr>
              <a:t>실행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</a:t>
            </a:r>
            <a:r>
              <a:rPr lang="en-US" sz="2100" b="1" dirty="0">
                <a:solidFill>
                  <a:schemeClr val="tx1"/>
                </a:solidFill>
                <a:latin typeface="+mj-lt"/>
                <a:ea typeface="Jalnan 2"/>
              </a:rPr>
              <a:t>DB</a:t>
            </a:r>
            <a:r>
              <a:rPr lang="ko-KR" altLang="en-US" sz="2100" b="1" dirty="0">
                <a:solidFill>
                  <a:schemeClr val="tx1"/>
                </a:solidFill>
                <a:latin typeface="+mj-lt"/>
                <a:ea typeface="Jalnan 2"/>
              </a:rPr>
              <a:t>결과 반환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DA5F8898-9973-3912-6CEC-EB7FDD3C6784}"/>
              </a:ext>
            </a:extLst>
          </p:cNvPr>
          <p:cNvSpPr txBox="1"/>
          <p:nvPr/>
        </p:nvSpPr>
        <p:spPr>
          <a:xfrm>
            <a:off x="5562600" y="2374900"/>
            <a:ext cx="2895600" cy="1866900"/>
          </a:xfrm>
          <a:prstGeom prst="rect">
            <a:avLst/>
          </a:prstGeom>
          <a:noFill/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</a:t>
            </a:r>
            <a:r>
              <a:rPr lang="ko-KR" altLang="en-US" sz="2100" b="1" dirty="0">
                <a:solidFill>
                  <a:schemeClr val="tx1"/>
                </a:solidFill>
                <a:latin typeface="+mj-lt"/>
                <a:ea typeface="Jalnan 2"/>
              </a:rPr>
              <a:t>요청 분석 및 처리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  <a:p>
            <a:pPr lvl="0" algn="ctr">
              <a:lnSpc>
                <a:spcPct val="116199"/>
              </a:lnSpc>
            </a:pPr>
            <a:r>
              <a:rPr lang="en-US" sz="2100" b="1" i="0" u="none" strike="noStrike" dirty="0">
                <a:solidFill>
                  <a:schemeClr val="tx1"/>
                </a:solidFill>
                <a:latin typeface="+mj-lt"/>
              </a:rPr>
              <a:t>- DAO </a:t>
            </a:r>
            <a:r>
              <a:rPr lang="ko-KR" altLang="en-US" sz="2100" b="1" i="0" u="none" strike="noStrike" dirty="0">
                <a:solidFill>
                  <a:schemeClr val="tx1"/>
                </a:solidFill>
                <a:latin typeface="+mj-lt"/>
              </a:rPr>
              <a:t>호출</a:t>
            </a: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  <a:p>
            <a:pPr lvl="0" algn="ctr">
              <a:lnSpc>
                <a:spcPct val="116199"/>
              </a:lnSpc>
            </a:pP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4FD4ED6-FCEA-8020-F7D5-F56FD230A1C8}"/>
              </a:ext>
            </a:extLst>
          </p:cNvPr>
          <p:cNvSpPr txBox="1"/>
          <p:nvPr/>
        </p:nvSpPr>
        <p:spPr>
          <a:xfrm>
            <a:off x="14224000" y="2374900"/>
            <a:ext cx="2895600" cy="1866900"/>
          </a:xfrm>
          <a:prstGeom prst="rect">
            <a:avLst/>
          </a:prstGeom>
          <a:noFill/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endParaRPr lang="ko-KR" sz="2100" b="1" i="0" u="none" strike="noStrike" dirty="0">
              <a:solidFill>
                <a:schemeClr val="tx1"/>
              </a:solidFill>
              <a:latin typeface="+mj-lt"/>
              <a:ea typeface="Jalnan 2"/>
            </a:endParaRPr>
          </a:p>
        </p:txBody>
      </p:sp>
    </p:spTree>
    <p:extLst>
      <p:ext uri="{BB962C8B-B14F-4D97-AF65-F5344CB8AC3E}">
        <p14:creationId xmlns:p14="http://schemas.microsoft.com/office/powerpoint/2010/main" val="286753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F855F061-F4F3-770A-611B-6F9ED6130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4099" y="2852119"/>
            <a:ext cx="7278506" cy="2291381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795D884F-C033-4BE8-24D6-C3E932826E50}"/>
              </a:ext>
            </a:extLst>
          </p:cNvPr>
          <p:cNvSpPr txBox="1"/>
          <p:nvPr/>
        </p:nvSpPr>
        <p:spPr>
          <a:xfrm>
            <a:off x="9303082" y="2342944"/>
            <a:ext cx="6869247" cy="509175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000" b="1" i="0" u="none" strike="noStrike" dirty="0">
                <a:solidFill>
                  <a:schemeClr val="tx1"/>
                </a:solidFill>
                <a:ea typeface="Jalnan 2"/>
              </a:rPr>
              <a:t>교과 성취도</a:t>
            </a:r>
            <a:endParaRPr lang="ko-KR" sz="30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BB189E7-2EAA-D66E-7034-017E5CC85841}"/>
              </a:ext>
            </a:extLst>
          </p:cNvPr>
          <p:cNvSpPr txBox="1"/>
          <p:nvPr/>
        </p:nvSpPr>
        <p:spPr>
          <a:xfrm>
            <a:off x="9303082" y="3206544"/>
            <a:ext cx="7930819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ko-KR" altLang="en-US" sz="2400" dirty="0"/>
              <a:t>학생이 </a:t>
            </a:r>
            <a:r>
              <a:rPr lang="ko-KR" altLang="en-US" sz="2400" b="1" dirty="0"/>
              <a:t>이수 완료한 과목의 성취도 정보</a:t>
            </a:r>
            <a:r>
              <a:rPr lang="ko-KR" altLang="en-US" sz="2400" dirty="0"/>
              <a:t> 조회</a:t>
            </a:r>
            <a:endParaRPr lang="en-US" altLang="ko-KR" sz="2400" dirty="0"/>
          </a:p>
          <a:p>
            <a:pPr lvl="0">
              <a:lnSpc>
                <a:spcPct val="124499"/>
              </a:lnSpc>
            </a:pPr>
            <a:r>
              <a:rPr lang="ko-KR" altLang="en-US" sz="2400" dirty="0"/>
              <a:t>성취가 확정된 교과 과목의 결과를 조회하기 위해</a:t>
            </a:r>
            <a:br>
              <a:rPr lang="ko-KR" altLang="en-US" sz="2400" dirty="0"/>
            </a:br>
            <a:r>
              <a:rPr lang="ko-KR" altLang="en-US" sz="2400" dirty="0"/>
              <a:t>성취기록</a:t>
            </a:r>
            <a:r>
              <a:rPr lang="en-US" altLang="ko-KR" sz="2400" dirty="0"/>
              <a:t>–</a:t>
            </a:r>
            <a:r>
              <a:rPr lang="ko-KR" altLang="en-US" sz="2400" dirty="0"/>
              <a:t>개설과목</a:t>
            </a:r>
            <a:r>
              <a:rPr lang="en-US" altLang="ko-KR" sz="2400" dirty="0"/>
              <a:t>–</a:t>
            </a:r>
            <a:r>
              <a:rPr lang="ko-KR" altLang="en-US" sz="2400" dirty="0"/>
              <a:t>과목 테이블을 </a:t>
            </a:r>
            <a:r>
              <a:rPr lang="en-US" altLang="ko-KR" sz="2400" dirty="0"/>
              <a:t>JOIN</a:t>
            </a:r>
            <a:endParaRPr lang="ko-KR" sz="23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FD7C21C-81F8-05D0-7593-3AC84030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17483" y="7093015"/>
            <a:ext cx="7029118" cy="17745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14E96E2F-84A4-4BA8-9083-99F7C06B10A2}"/>
              </a:ext>
            </a:extLst>
          </p:cNvPr>
          <p:cNvSpPr txBox="1"/>
          <p:nvPr/>
        </p:nvSpPr>
        <p:spPr>
          <a:xfrm>
            <a:off x="1613647" y="6470444"/>
            <a:ext cx="6456872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ko-KR" altLang="en-US" sz="3000" b="1" i="0" u="none" strike="noStrike" dirty="0" err="1">
                <a:solidFill>
                  <a:schemeClr val="tx1"/>
                </a:solidFill>
                <a:ea typeface="Jalnan 2"/>
              </a:rPr>
              <a:t>창체</a:t>
            </a:r>
            <a:r>
              <a:rPr lang="ko-KR" altLang="en-US" sz="3000" b="1" i="0" u="none" strike="noStrike" dirty="0">
                <a:solidFill>
                  <a:schemeClr val="tx1"/>
                </a:solidFill>
                <a:ea typeface="Jalnan 2"/>
              </a:rPr>
              <a:t> 활동 성취도</a:t>
            </a:r>
            <a:endParaRPr lang="ko-KR" sz="30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E3566BE2-AAFF-01B6-03E7-8D5000E1D1B1}"/>
              </a:ext>
            </a:extLst>
          </p:cNvPr>
          <p:cNvSpPr txBox="1"/>
          <p:nvPr/>
        </p:nvSpPr>
        <p:spPr>
          <a:xfrm>
            <a:off x="1041399" y="7346744"/>
            <a:ext cx="7029120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ko-KR" altLang="en-US" sz="2400" dirty="0"/>
              <a:t>학생의 </a:t>
            </a:r>
            <a:r>
              <a:rPr lang="ko-KR" altLang="en-US" sz="2400" b="1" dirty="0"/>
              <a:t>창의적 체험활동 성취 내역</a:t>
            </a:r>
            <a:r>
              <a:rPr lang="ko-KR" altLang="en-US" sz="2400" dirty="0"/>
              <a:t>을 조회</a:t>
            </a:r>
            <a:endParaRPr lang="ko-KR" sz="23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9" name="Google Shape;122;p16">
            <a:extLst>
              <a:ext uri="{FF2B5EF4-FFF2-40B4-BE49-F238E27FC236}">
                <a16:creationId xmlns:a16="http://schemas.microsoft.com/office/drawing/2014/main" id="{6E57C8F3-AB77-0385-E554-E67D693C21DC}"/>
              </a:ext>
            </a:extLst>
          </p:cNvPr>
          <p:cNvSpPr txBox="1"/>
          <p:nvPr/>
        </p:nvSpPr>
        <p:spPr>
          <a:xfrm>
            <a:off x="0" y="437575"/>
            <a:ext cx="7834745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en-US" sz="6998" dirty="0">
                <a:solidFill>
                  <a:srgbClr val="191919"/>
                </a:solidFill>
              </a:rPr>
              <a:t>  </a:t>
            </a:r>
            <a:r>
              <a:rPr lang="en-US" altLang="en-US" sz="6998" dirty="0" err="1">
                <a:solidFill>
                  <a:srgbClr val="191919"/>
                </a:solidFill>
              </a:rPr>
              <a:t>Achivement.DAO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10" name="Google Shape;129;p16">
            <a:extLst>
              <a:ext uri="{FF2B5EF4-FFF2-40B4-BE49-F238E27FC236}">
                <a16:creationId xmlns:a16="http://schemas.microsoft.com/office/drawing/2014/main" id="{22346CBE-4811-FDF4-3741-8E084850AE26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5">
            <a:extLst>
              <a:ext uri="{FF2B5EF4-FFF2-40B4-BE49-F238E27FC236}">
                <a16:creationId xmlns:a16="http://schemas.microsoft.com/office/drawing/2014/main" id="{FB3858A1-D313-FF08-CCDF-2BA30D4BF2EE}"/>
              </a:ext>
            </a:extLst>
          </p:cNvPr>
          <p:cNvSpPr txBox="1"/>
          <p:nvPr/>
        </p:nvSpPr>
        <p:spPr>
          <a:xfrm>
            <a:off x="800100" y="4912965"/>
            <a:ext cx="52324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000" b="1" i="0" u="none" strike="noStrike" dirty="0">
                <a:solidFill>
                  <a:schemeClr val="tx1"/>
                </a:solidFill>
                <a:ea typeface="Jalnan 2"/>
              </a:rPr>
              <a:t>수강 중인 과목 목록</a:t>
            </a:r>
            <a:endParaRPr lang="ko-KR" sz="30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2A336666-C55C-8ABE-A491-37154BEA7996}"/>
              </a:ext>
            </a:extLst>
          </p:cNvPr>
          <p:cNvSpPr txBox="1"/>
          <p:nvPr/>
        </p:nvSpPr>
        <p:spPr>
          <a:xfrm>
            <a:off x="430306" y="5814665"/>
            <a:ext cx="5576794" cy="303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ko-KR" altLang="en-US" sz="2400" dirty="0"/>
              <a:t>학생이 </a:t>
            </a:r>
            <a:r>
              <a:rPr lang="ko-KR" altLang="en-US" sz="2400" b="1" dirty="0"/>
              <a:t>현재 수강 중인 과목 목록</a:t>
            </a:r>
            <a:r>
              <a:rPr lang="ko-KR" altLang="en-US" sz="2400" dirty="0"/>
              <a:t>을 조회</a:t>
            </a:r>
            <a:endParaRPr lang="en-US" altLang="ko-KR" sz="2400" dirty="0"/>
          </a:p>
          <a:p>
            <a:pPr lvl="0">
              <a:lnSpc>
                <a:spcPct val="124499"/>
              </a:lnSpc>
            </a:pPr>
            <a:endParaRPr lang="en-US" altLang="ko-KR" sz="2400" b="1" i="0" u="none" strike="noStrike" dirty="0">
              <a:solidFill>
                <a:schemeClr val="tx1"/>
              </a:solidFill>
              <a:ea typeface="Jalnan 2"/>
            </a:endParaRPr>
          </a:p>
          <a:p>
            <a:pPr lvl="0">
              <a:lnSpc>
                <a:spcPct val="124499"/>
              </a:lnSpc>
            </a:pPr>
            <a:r>
              <a:rPr lang="ko-KR" altLang="en-US" sz="2400" dirty="0"/>
              <a:t>현재 수강 상태 관리를 위해</a:t>
            </a:r>
            <a:br>
              <a:rPr lang="ko-KR" altLang="en-US" sz="2400" dirty="0"/>
            </a:br>
            <a:r>
              <a:rPr lang="ko-KR" altLang="en-US" sz="2400" dirty="0" err="1"/>
              <a:t>수강중인과목</a:t>
            </a:r>
            <a:r>
              <a:rPr lang="en-US" altLang="ko-KR" sz="2400" dirty="0"/>
              <a:t>–</a:t>
            </a:r>
            <a:r>
              <a:rPr lang="ko-KR" altLang="en-US" sz="2400" dirty="0"/>
              <a:t>개설과목</a:t>
            </a:r>
            <a:r>
              <a:rPr lang="en-US" altLang="ko-KR" sz="2400" dirty="0"/>
              <a:t>–</a:t>
            </a:r>
            <a:r>
              <a:rPr lang="ko-KR" altLang="en-US" sz="2400" dirty="0"/>
              <a:t>과목 테이블을 연계하였다</a:t>
            </a:r>
            <a:r>
              <a:rPr lang="en-US" altLang="ko-KR" sz="2400" dirty="0"/>
              <a:t>.</a:t>
            </a:r>
            <a:endParaRPr lang="ko-KR" sz="23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B0E10B2-CAB4-69A8-8631-862E9B61AD7A}"/>
              </a:ext>
            </a:extLst>
          </p:cNvPr>
          <p:cNvSpPr txBox="1"/>
          <p:nvPr/>
        </p:nvSpPr>
        <p:spPr>
          <a:xfrm>
            <a:off x="6565900" y="4912965"/>
            <a:ext cx="52324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000" b="1" i="0" u="none" strike="noStrike" dirty="0">
                <a:solidFill>
                  <a:schemeClr val="tx1"/>
                </a:solidFill>
                <a:ea typeface="Jalnan 2"/>
              </a:rPr>
              <a:t>과목 상세 정보 조회</a:t>
            </a:r>
            <a:endParaRPr lang="ko-KR" sz="30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D6B8C86-4BC8-625C-1331-31F700EC1F03}"/>
              </a:ext>
            </a:extLst>
          </p:cNvPr>
          <p:cNvSpPr txBox="1"/>
          <p:nvPr/>
        </p:nvSpPr>
        <p:spPr>
          <a:xfrm>
            <a:off x="6565900" y="5814665"/>
            <a:ext cx="5207000" cy="260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ko-KR" altLang="en-US" sz="2400" dirty="0"/>
              <a:t>선택한 수강 과목의 </a:t>
            </a:r>
            <a:r>
              <a:rPr lang="ko-KR" altLang="en-US" sz="2400" b="1" dirty="0"/>
              <a:t>상세 정보</a:t>
            </a:r>
            <a:r>
              <a:rPr lang="ko-KR" altLang="en-US" sz="2400" dirty="0"/>
              <a:t> 조회</a:t>
            </a:r>
            <a:endParaRPr lang="en-US" altLang="ko-KR" sz="2400" dirty="0"/>
          </a:p>
          <a:p>
            <a:pPr lvl="0">
              <a:lnSpc>
                <a:spcPct val="124499"/>
              </a:lnSpc>
            </a:pPr>
            <a:endParaRPr lang="en-US" altLang="ko-KR" sz="2400" b="1" i="0" u="none" strike="noStrike" dirty="0">
              <a:solidFill>
                <a:schemeClr val="tx1"/>
              </a:solidFill>
              <a:ea typeface="Jalnan 2"/>
            </a:endParaRPr>
          </a:p>
          <a:p>
            <a:pPr lvl="0">
              <a:lnSpc>
                <a:spcPct val="124499"/>
              </a:lnSpc>
            </a:pPr>
            <a:r>
              <a:rPr lang="ko-KR" altLang="en-US" sz="2400" dirty="0"/>
              <a:t>하나의 수강 과목에 대한 종합 정보를 제공하기 위해 과목</a:t>
            </a:r>
            <a:r>
              <a:rPr lang="en-US" altLang="ko-KR" sz="2400" dirty="0"/>
              <a:t>–</a:t>
            </a:r>
            <a:r>
              <a:rPr lang="ko-KR" altLang="en-US" sz="2400" dirty="0"/>
              <a:t>개설과목</a:t>
            </a:r>
            <a:r>
              <a:rPr lang="en-US" altLang="ko-KR" sz="2400" dirty="0"/>
              <a:t>–</a:t>
            </a:r>
            <a:r>
              <a:rPr lang="ko-KR" altLang="en-US" sz="2400" dirty="0"/>
              <a:t>교사 테이블을 함께 조회</a:t>
            </a:r>
            <a:endParaRPr lang="ko-KR" sz="23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743B42A9-CA6D-B14B-95CB-7E03E2B06604}"/>
              </a:ext>
            </a:extLst>
          </p:cNvPr>
          <p:cNvSpPr txBox="1"/>
          <p:nvPr/>
        </p:nvSpPr>
        <p:spPr>
          <a:xfrm>
            <a:off x="12331700" y="4912965"/>
            <a:ext cx="52324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000" b="1" dirty="0">
                <a:solidFill>
                  <a:schemeClr val="tx1"/>
                </a:solidFill>
                <a:ea typeface="Jalnan 2"/>
              </a:rPr>
              <a:t>동일 개설 </a:t>
            </a:r>
            <a:r>
              <a:rPr lang="en-US" altLang="ko-KR" sz="3000" b="1" dirty="0">
                <a:solidFill>
                  <a:schemeClr val="tx1"/>
                </a:solidFill>
                <a:ea typeface="Jalnan 2"/>
              </a:rPr>
              <a:t>ID </a:t>
            </a:r>
            <a:r>
              <a:rPr lang="ko-KR" altLang="en-US" sz="3000" b="1" dirty="0">
                <a:solidFill>
                  <a:schemeClr val="tx1"/>
                </a:solidFill>
                <a:ea typeface="Jalnan 2"/>
              </a:rPr>
              <a:t>학생 목록</a:t>
            </a:r>
            <a:endParaRPr lang="ko-KR" sz="30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D71D85BB-FC06-FFFD-EB13-3C7D45B62A3D}"/>
              </a:ext>
            </a:extLst>
          </p:cNvPr>
          <p:cNvSpPr txBox="1"/>
          <p:nvPr/>
        </p:nvSpPr>
        <p:spPr>
          <a:xfrm>
            <a:off x="12331700" y="5814665"/>
            <a:ext cx="5207000" cy="215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300" b="1" i="0" u="none" strike="noStrike" dirty="0">
                <a:solidFill>
                  <a:schemeClr val="tx1"/>
                </a:solidFill>
                <a:ea typeface="Jalnan 2"/>
              </a:rPr>
              <a:t>같은 수업을 듣는 학생목록 조회</a:t>
            </a:r>
            <a:endParaRPr lang="en-US" altLang="ko-KR" sz="2300" b="1" i="0" u="none" strike="noStrike" dirty="0">
              <a:solidFill>
                <a:schemeClr val="tx1"/>
              </a:solidFill>
              <a:ea typeface="Jalnan 2"/>
            </a:endParaRPr>
          </a:p>
          <a:p>
            <a:pPr lvl="0">
              <a:lnSpc>
                <a:spcPct val="124499"/>
              </a:lnSpc>
            </a:pPr>
            <a:endParaRPr lang="en-US" altLang="ko-KR" sz="2400" dirty="0"/>
          </a:p>
          <a:p>
            <a:pPr lvl="0">
              <a:lnSpc>
                <a:spcPct val="124499"/>
              </a:lnSpc>
            </a:pPr>
            <a:r>
              <a:rPr lang="ko-KR" altLang="en-US" sz="2400" dirty="0" err="1"/>
              <a:t>수강중인과목</a:t>
            </a:r>
            <a:r>
              <a:rPr lang="ko-KR" altLang="en-US" sz="2400" dirty="0"/>
              <a:t> 테이블을 자기조인</a:t>
            </a:r>
            <a:r>
              <a:rPr lang="en-US" altLang="ko-KR" sz="2400" dirty="0"/>
              <a:t>.</a:t>
            </a:r>
            <a:endParaRPr lang="en-US" altLang="ko-KR" sz="2300" b="1" i="0" u="none" strike="noStrike" dirty="0">
              <a:solidFill>
                <a:schemeClr val="tx1"/>
              </a:solidFill>
              <a:ea typeface="Jalnan 2"/>
            </a:endParaRPr>
          </a:p>
          <a:p>
            <a:pPr lvl="0" algn="l">
              <a:lnSpc>
                <a:spcPct val="124499"/>
              </a:lnSpc>
            </a:pPr>
            <a:endParaRPr lang="ko-KR" sz="2300" b="1" i="0" u="none" strike="noStrike" dirty="0">
              <a:solidFill>
                <a:schemeClr val="tx1"/>
              </a:solidFill>
              <a:ea typeface="Jalnan 2"/>
            </a:endParaRPr>
          </a:p>
        </p:txBody>
      </p:sp>
      <p:sp>
        <p:nvSpPr>
          <p:cNvPr id="22" name="Google Shape;122;p16">
            <a:extLst>
              <a:ext uri="{FF2B5EF4-FFF2-40B4-BE49-F238E27FC236}">
                <a16:creationId xmlns:a16="http://schemas.microsoft.com/office/drawing/2014/main" id="{960C7398-26F4-8E75-87F4-9E653AD24DA6}"/>
              </a:ext>
            </a:extLst>
          </p:cNvPr>
          <p:cNvSpPr txBox="1"/>
          <p:nvPr/>
        </p:nvSpPr>
        <p:spPr>
          <a:xfrm>
            <a:off x="999675" y="437575"/>
            <a:ext cx="6227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98"/>
            </a:pPr>
            <a:r>
              <a:rPr lang="en-US" altLang="en-US" sz="6998" dirty="0">
                <a:solidFill>
                  <a:srgbClr val="191919"/>
                </a:solidFill>
              </a:rPr>
              <a:t>  </a:t>
            </a:r>
            <a:r>
              <a:rPr lang="en-US" altLang="en-US" sz="6998" dirty="0" err="1">
                <a:solidFill>
                  <a:srgbClr val="191919"/>
                </a:solidFill>
              </a:rPr>
              <a:t>Subject.DAO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23" name="Google Shape;129;p16">
            <a:extLst>
              <a:ext uri="{FF2B5EF4-FFF2-40B4-BE49-F238E27FC236}">
                <a16:creationId xmlns:a16="http://schemas.microsoft.com/office/drawing/2014/main" id="{B5A39BD4-B961-0292-A96B-2CAD44A37B07}"/>
              </a:ext>
            </a:extLst>
          </p:cNvPr>
          <p:cNvSpPr/>
          <p:nvPr/>
        </p:nvSpPr>
        <p:spPr>
          <a:xfrm>
            <a:off x="0" y="1743475"/>
            <a:ext cx="622758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그림 2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244B1B-2FB0-6058-B242-24C4B3A67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44942"/>
            <a:ext cx="5089774" cy="2043931"/>
          </a:xfrm>
          <a:prstGeom prst="rect">
            <a:avLst/>
          </a:prstGeom>
        </p:spPr>
      </p:pic>
      <p:pic>
        <p:nvPicPr>
          <p:cNvPr id="29" name="그림 28" descr="텍스트, 폰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B26C8-F246-0931-8962-D78314F08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899" y="2444942"/>
            <a:ext cx="5054883" cy="2043931"/>
          </a:xfrm>
          <a:prstGeom prst="rect">
            <a:avLst/>
          </a:prstGeom>
        </p:spPr>
      </p:pic>
      <p:pic>
        <p:nvPicPr>
          <p:cNvPr id="31" name="그림 30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256096-C158-1D07-EA3D-FD33EF5EF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9973" y="2444942"/>
            <a:ext cx="5737272" cy="17653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A6A6A6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0" name="Google Shape;240;p22"/>
          <p:cNvSpPr txBox="1"/>
          <p:nvPr/>
        </p:nvSpPr>
        <p:spPr>
          <a:xfrm>
            <a:off x="2967152" y="4289250"/>
            <a:ext cx="12353700" cy="239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0" b="0" i="0" u="none" strike="noStrike" cap="none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1100" b="0" i="0" u="none" strike="noStrike" cap="none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dirty="0"/>
          </a:p>
        </p:txBody>
      </p:sp>
      <p:sp>
        <p:nvSpPr>
          <p:cNvPr id="241" name="Google Shape;241;p22"/>
          <p:cNvSpPr/>
          <p:nvPr/>
        </p:nvSpPr>
        <p:spPr>
          <a:xfrm>
            <a:off x="0" y="1743475"/>
            <a:ext cx="4682395" cy="38100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Google Shape;242;p22"/>
          <p:cNvSpPr txBox="1"/>
          <p:nvPr/>
        </p:nvSpPr>
        <p:spPr>
          <a:xfrm>
            <a:off x="1028700" y="388937"/>
            <a:ext cx="2186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8" dirty="0" err="1">
                <a:solidFill>
                  <a:srgbClr val="191919"/>
                </a:solidFill>
              </a:rPr>
              <a:t>결</a:t>
            </a:r>
            <a:r>
              <a:rPr lang="en-US" sz="6998" b="0" i="0" u="none" strike="noStrike" cap="none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론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/>
          <p:nvPr/>
        </p:nvSpPr>
        <p:spPr>
          <a:xfrm>
            <a:off x="0" y="1743475"/>
            <a:ext cx="5103810" cy="32639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4" name="Google Shape;264;p24"/>
          <p:cNvGrpSpPr/>
          <p:nvPr/>
        </p:nvGrpSpPr>
        <p:grpSpPr>
          <a:xfrm>
            <a:off x="579888" y="2591850"/>
            <a:ext cx="8289024" cy="7039058"/>
            <a:chOff x="0" y="0"/>
            <a:chExt cx="4466069" cy="1893900"/>
          </a:xfrm>
        </p:grpSpPr>
        <p:sp>
          <p:nvSpPr>
            <p:cNvPr id="265" name="Google Shape;265;p24"/>
            <p:cNvSpPr/>
            <p:nvPr/>
          </p:nvSpPr>
          <p:spPr>
            <a:xfrm>
              <a:off x="0" y="0"/>
              <a:ext cx="4445958" cy="1893838"/>
            </a:xfrm>
            <a:custGeom>
              <a:avLst/>
              <a:gdLst/>
              <a:ahLst/>
              <a:cxnLst/>
              <a:rect l="l" t="t" r="r" b="b"/>
              <a:pathLst>
                <a:path w="4445958" h="1893838" extrusionOk="0">
                  <a:moveTo>
                    <a:pt x="23390" y="0"/>
                  </a:moveTo>
                  <a:lnTo>
                    <a:pt x="4422568" y="0"/>
                  </a:lnTo>
                  <a:cubicBezTo>
                    <a:pt x="4435486" y="0"/>
                    <a:pt x="4445958" y="10472"/>
                    <a:pt x="4445958" y="23390"/>
                  </a:cubicBezTo>
                  <a:lnTo>
                    <a:pt x="4445958" y="1870448"/>
                  </a:lnTo>
                  <a:cubicBezTo>
                    <a:pt x="4445958" y="1876651"/>
                    <a:pt x="4443494" y="1882601"/>
                    <a:pt x="4439107" y="1886987"/>
                  </a:cubicBezTo>
                  <a:cubicBezTo>
                    <a:pt x="4434721" y="1891374"/>
                    <a:pt x="4428772" y="1893838"/>
                    <a:pt x="4422568" y="1893838"/>
                  </a:cubicBezTo>
                  <a:lnTo>
                    <a:pt x="23390" y="1893838"/>
                  </a:lnTo>
                  <a:cubicBezTo>
                    <a:pt x="10472" y="1893838"/>
                    <a:pt x="0" y="1883366"/>
                    <a:pt x="0" y="1870448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20069" y="0"/>
              <a:ext cx="4446000" cy="189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24"/>
          <p:cNvGrpSpPr/>
          <p:nvPr/>
        </p:nvGrpSpPr>
        <p:grpSpPr>
          <a:xfrm>
            <a:off x="4001212" y="2227600"/>
            <a:ext cx="1424424" cy="740398"/>
            <a:chOff x="0" y="0"/>
            <a:chExt cx="543300" cy="195011"/>
          </a:xfrm>
        </p:grpSpPr>
        <p:sp>
          <p:nvSpPr>
            <p:cNvPr id="268" name="Google Shape;268;p24"/>
            <p:cNvSpPr/>
            <p:nvPr/>
          </p:nvSpPr>
          <p:spPr>
            <a:xfrm>
              <a:off x="0" y="0"/>
              <a:ext cx="543248" cy="195011"/>
            </a:xfrm>
            <a:custGeom>
              <a:avLst/>
              <a:gdLst/>
              <a:ahLst/>
              <a:cxnLst/>
              <a:rect l="l" t="t" r="r" b="b"/>
              <a:pathLst>
                <a:path w="543248" h="195011" extrusionOk="0">
                  <a:moveTo>
                    <a:pt x="97505" y="0"/>
                  </a:moveTo>
                  <a:lnTo>
                    <a:pt x="445742" y="0"/>
                  </a:lnTo>
                  <a:cubicBezTo>
                    <a:pt x="471602" y="0"/>
                    <a:pt x="496403" y="10273"/>
                    <a:pt x="514689" y="28559"/>
                  </a:cubicBezTo>
                  <a:cubicBezTo>
                    <a:pt x="532975" y="46845"/>
                    <a:pt x="543248" y="71645"/>
                    <a:pt x="543248" y="97505"/>
                  </a:cubicBezTo>
                  <a:lnTo>
                    <a:pt x="543248" y="97505"/>
                  </a:lnTo>
                  <a:cubicBezTo>
                    <a:pt x="543248" y="151356"/>
                    <a:pt x="499593" y="195011"/>
                    <a:pt x="445742" y="195011"/>
                  </a:cubicBezTo>
                  <a:lnTo>
                    <a:pt x="97505" y="195011"/>
                  </a:lnTo>
                  <a:cubicBezTo>
                    <a:pt x="43655" y="195011"/>
                    <a:pt x="0" y="151356"/>
                    <a:pt x="0" y="97505"/>
                  </a:cubicBezTo>
                  <a:lnTo>
                    <a:pt x="0" y="97505"/>
                  </a:lnTo>
                  <a:cubicBezTo>
                    <a:pt x="0" y="43655"/>
                    <a:pt x="43655" y="0"/>
                    <a:pt x="975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 txBox="1"/>
            <p:nvPr/>
          </p:nvSpPr>
          <p:spPr>
            <a:xfrm>
              <a:off x="0" y="0"/>
              <a:ext cx="5433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24"/>
          <p:cNvSpPr txBox="1"/>
          <p:nvPr/>
        </p:nvSpPr>
        <p:spPr>
          <a:xfrm>
            <a:off x="4145245" y="2372510"/>
            <a:ext cx="11583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/>
              <a:t>로그인</a:t>
            </a:r>
            <a:endParaRPr dirty="0"/>
          </a:p>
        </p:txBody>
      </p:sp>
      <p:grpSp>
        <p:nvGrpSpPr>
          <p:cNvPr id="271" name="Google Shape;271;p24"/>
          <p:cNvGrpSpPr/>
          <p:nvPr/>
        </p:nvGrpSpPr>
        <p:grpSpPr>
          <a:xfrm>
            <a:off x="9432100" y="2591850"/>
            <a:ext cx="8289024" cy="7039058"/>
            <a:chOff x="0" y="0"/>
            <a:chExt cx="4466069" cy="1893900"/>
          </a:xfrm>
        </p:grpSpPr>
        <p:sp>
          <p:nvSpPr>
            <p:cNvPr id="272" name="Google Shape;272;p24"/>
            <p:cNvSpPr/>
            <p:nvPr/>
          </p:nvSpPr>
          <p:spPr>
            <a:xfrm>
              <a:off x="0" y="0"/>
              <a:ext cx="4445958" cy="1893838"/>
            </a:xfrm>
            <a:custGeom>
              <a:avLst/>
              <a:gdLst/>
              <a:ahLst/>
              <a:cxnLst/>
              <a:rect l="l" t="t" r="r" b="b"/>
              <a:pathLst>
                <a:path w="4445958" h="1893838" extrusionOk="0">
                  <a:moveTo>
                    <a:pt x="23390" y="0"/>
                  </a:moveTo>
                  <a:lnTo>
                    <a:pt x="4422568" y="0"/>
                  </a:lnTo>
                  <a:cubicBezTo>
                    <a:pt x="4435486" y="0"/>
                    <a:pt x="4445958" y="10472"/>
                    <a:pt x="4445958" y="23390"/>
                  </a:cubicBezTo>
                  <a:lnTo>
                    <a:pt x="4445958" y="1870448"/>
                  </a:lnTo>
                  <a:cubicBezTo>
                    <a:pt x="4445958" y="1876651"/>
                    <a:pt x="4443494" y="1882601"/>
                    <a:pt x="4439107" y="1886987"/>
                  </a:cubicBezTo>
                  <a:cubicBezTo>
                    <a:pt x="4434721" y="1891374"/>
                    <a:pt x="4428772" y="1893838"/>
                    <a:pt x="4422568" y="1893838"/>
                  </a:cubicBezTo>
                  <a:lnTo>
                    <a:pt x="23390" y="1893838"/>
                  </a:lnTo>
                  <a:cubicBezTo>
                    <a:pt x="10472" y="1893838"/>
                    <a:pt x="0" y="1883366"/>
                    <a:pt x="0" y="1870448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 txBox="1"/>
            <p:nvPr/>
          </p:nvSpPr>
          <p:spPr>
            <a:xfrm>
              <a:off x="20069" y="0"/>
              <a:ext cx="4446000" cy="189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4"/>
          <p:cNvGrpSpPr/>
          <p:nvPr/>
        </p:nvGrpSpPr>
        <p:grpSpPr>
          <a:xfrm>
            <a:off x="12681313" y="2227600"/>
            <a:ext cx="1790608" cy="740398"/>
            <a:chOff x="0" y="0"/>
            <a:chExt cx="543300" cy="195011"/>
          </a:xfrm>
        </p:grpSpPr>
        <p:sp>
          <p:nvSpPr>
            <p:cNvPr id="275" name="Google Shape;275;p24"/>
            <p:cNvSpPr/>
            <p:nvPr/>
          </p:nvSpPr>
          <p:spPr>
            <a:xfrm>
              <a:off x="0" y="0"/>
              <a:ext cx="543248" cy="195011"/>
            </a:xfrm>
            <a:custGeom>
              <a:avLst/>
              <a:gdLst/>
              <a:ahLst/>
              <a:cxnLst/>
              <a:rect l="l" t="t" r="r" b="b"/>
              <a:pathLst>
                <a:path w="543248" h="195011" extrusionOk="0">
                  <a:moveTo>
                    <a:pt x="97505" y="0"/>
                  </a:moveTo>
                  <a:lnTo>
                    <a:pt x="445742" y="0"/>
                  </a:lnTo>
                  <a:cubicBezTo>
                    <a:pt x="471602" y="0"/>
                    <a:pt x="496403" y="10273"/>
                    <a:pt x="514689" y="28559"/>
                  </a:cubicBezTo>
                  <a:cubicBezTo>
                    <a:pt x="532975" y="46845"/>
                    <a:pt x="543248" y="71645"/>
                    <a:pt x="543248" y="97505"/>
                  </a:cubicBezTo>
                  <a:lnTo>
                    <a:pt x="543248" y="97505"/>
                  </a:lnTo>
                  <a:cubicBezTo>
                    <a:pt x="543248" y="151356"/>
                    <a:pt x="499593" y="195011"/>
                    <a:pt x="445742" y="195011"/>
                  </a:cubicBezTo>
                  <a:lnTo>
                    <a:pt x="97505" y="195011"/>
                  </a:lnTo>
                  <a:cubicBezTo>
                    <a:pt x="43655" y="195011"/>
                    <a:pt x="0" y="151356"/>
                    <a:pt x="0" y="97505"/>
                  </a:cubicBezTo>
                  <a:lnTo>
                    <a:pt x="0" y="97505"/>
                  </a:lnTo>
                  <a:cubicBezTo>
                    <a:pt x="0" y="43655"/>
                    <a:pt x="43655" y="0"/>
                    <a:pt x="975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4"/>
            <p:cNvSpPr txBox="1"/>
            <p:nvPr/>
          </p:nvSpPr>
          <p:spPr>
            <a:xfrm>
              <a:off x="0" y="0"/>
              <a:ext cx="5433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24"/>
          <p:cNvSpPr txBox="1"/>
          <p:nvPr/>
        </p:nvSpPr>
        <p:spPr>
          <a:xfrm>
            <a:off x="12825335" y="2372510"/>
            <a:ext cx="15366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/>
              <a:t>메인</a:t>
            </a:r>
            <a:endParaRPr dirty="0"/>
          </a:p>
        </p:txBody>
      </p:sp>
      <p:sp>
        <p:nvSpPr>
          <p:cNvPr id="278" name="Google Shape;278;p24"/>
          <p:cNvSpPr txBox="1"/>
          <p:nvPr/>
        </p:nvSpPr>
        <p:spPr>
          <a:xfrm>
            <a:off x="542475" y="437575"/>
            <a:ext cx="8573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8" dirty="0">
                <a:solidFill>
                  <a:srgbClr val="191919"/>
                </a:solidFill>
              </a:rPr>
              <a:t>3. </a:t>
            </a:r>
            <a:r>
              <a:rPr lang="ko-KR" altLang="en-US" sz="6998" dirty="0">
                <a:solidFill>
                  <a:srgbClr val="191919"/>
                </a:solidFill>
              </a:rPr>
              <a:t>결과</a:t>
            </a:r>
            <a:r>
              <a:rPr lang="en-US" sz="6998" dirty="0">
                <a:solidFill>
                  <a:srgbClr val="191919"/>
                </a:solidFill>
              </a:rPr>
              <a:t> 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56FFC6-98A5-415A-644D-0D2FA9482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43597-6EC9-312F-0078-31A1E111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196" y="4015582"/>
            <a:ext cx="5563082" cy="4191363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BDE420-6EC7-655C-1E48-19949F7B6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902" y="4347618"/>
            <a:ext cx="7876094" cy="3527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61">
          <a:extLst>
            <a:ext uri="{FF2B5EF4-FFF2-40B4-BE49-F238E27FC236}">
              <a16:creationId xmlns:a16="http://schemas.microsoft.com/office/drawing/2014/main" id="{0975091D-9E58-F82E-09B1-B2FEEAAB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>
            <a:extLst>
              <a:ext uri="{FF2B5EF4-FFF2-40B4-BE49-F238E27FC236}">
                <a16:creationId xmlns:a16="http://schemas.microsoft.com/office/drawing/2014/main" id="{6DA8D86E-1ECE-5291-D1B2-6D0D3A1A8B0F}"/>
              </a:ext>
            </a:extLst>
          </p:cNvPr>
          <p:cNvSpPr/>
          <p:nvPr/>
        </p:nvSpPr>
        <p:spPr>
          <a:xfrm>
            <a:off x="0" y="1743475"/>
            <a:ext cx="5103810" cy="32639"/>
          </a:xfrm>
          <a:custGeom>
            <a:avLst/>
            <a:gdLst/>
            <a:ahLst/>
            <a:cxnLst/>
            <a:rect l="l" t="t" r="r" b="b"/>
            <a:pathLst>
              <a:path w="6243193" h="50800" extrusionOk="0">
                <a:moveTo>
                  <a:pt x="0" y="0"/>
                </a:moveTo>
                <a:lnTo>
                  <a:pt x="6243193" y="0"/>
                </a:lnTo>
                <a:lnTo>
                  <a:pt x="6243193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4" name="Google Shape;264;p24">
            <a:extLst>
              <a:ext uri="{FF2B5EF4-FFF2-40B4-BE49-F238E27FC236}">
                <a16:creationId xmlns:a16="http://schemas.microsoft.com/office/drawing/2014/main" id="{3D34345A-1319-93DD-6EE8-69BF69C80677}"/>
              </a:ext>
            </a:extLst>
          </p:cNvPr>
          <p:cNvGrpSpPr/>
          <p:nvPr/>
        </p:nvGrpSpPr>
        <p:grpSpPr>
          <a:xfrm>
            <a:off x="579888" y="2591850"/>
            <a:ext cx="8289024" cy="7039058"/>
            <a:chOff x="0" y="0"/>
            <a:chExt cx="4466069" cy="1893900"/>
          </a:xfrm>
        </p:grpSpPr>
        <p:sp>
          <p:nvSpPr>
            <p:cNvPr id="265" name="Google Shape;265;p24">
              <a:extLst>
                <a:ext uri="{FF2B5EF4-FFF2-40B4-BE49-F238E27FC236}">
                  <a16:creationId xmlns:a16="http://schemas.microsoft.com/office/drawing/2014/main" id="{EF44C87E-BE4E-F89F-0DD3-1BC73A200572}"/>
                </a:ext>
              </a:extLst>
            </p:cNvPr>
            <p:cNvSpPr/>
            <p:nvPr/>
          </p:nvSpPr>
          <p:spPr>
            <a:xfrm>
              <a:off x="0" y="0"/>
              <a:ext cx="4445958" cy="1893838"/>
            </a:xfrm>
            <a:custGeom>
              <a:avLst/>
              <a:gdLst/>
              <a:ahLst/>
              <a:cxnLst/>
              <a:rect l="l" t="t" r="r" b="b"/>
              <a:pathLst>
                <a:path w="4445958" h="1893838" extrusionOk="0">
                  <a:moveTo>
                    <a:pt x="23390" y="0"/>
                  </a:moveTo>
                  <a:lnTo>
                    <a:pt x="4422568" y="0"/>
                  </a:lnTo>
                  <a:cubicBezTo>
                    <a:pt x="4435486" y="0"/>
                    <a:pt x="4445958" y="10472"/>
                    <a:pt x="4445958" y="23390"/>
                  </a:cubicBezTo>
                  <a:lnTo>
                    <a:pt x="4445958" y="1870448"/>
                  </a:lnTo>
                  <a:cubicBezTo>
                    <a:pt x="4445958" y="1876651"/>
                    <a:pt x="4443494" y="1882601"/>
                    <a:pt x="4439107" y="1886987"/>
                  </a:cubicBezTo>
                  <a:cubicBezTo>
                    <a:pt x="4434721" y="1891374"/>
                    <a:pt x="4428772" y="1893838"/>
                    <a:pt x="4422568" y="1893838"/>
                  </a:cubicBezTo>
                  <a:lnTo>
                    <a:pt x="23390" y="1893838"/>
                  </a:lnTo>
                  <a:cubicBezTo>
                    <a:pt x="10472" y="1893838"/>
                    <a:pt x="0" y="1883366"/>
                    <a:pt x="0" y="1870448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>
              <a:extLst>
                <a:ext uri="{FF2B5EF4-FFF2-40B4-BE49-F238E27FC236}">
                  <a16:creationId xmlns:a16="http://schemas.microsoft.com/office/drawing/2014/main" id="{8C9BE4EB-BB1A-13BE-04B9-53F15B67EF89}"/>
                </a:ext>
              </a:extLst>
            </p:cNvPr>
            <p:cNvSpPr txBox="1"/>
            <p:nvPr/>
          </p:nvSpPr>
          <p:spPr>
            <a:xfrm>
              <a:off x="20069" y="0"/>
              <a:ext cx="4446000" cy="189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24">
            <a:extLst>
              <a:ext uri="{FF2B5EF4-FFF2-40B4-BE49-F238E27FC236}">
                <a16:creationId xmlns:a16="http://schemas.microsoft.com/office/drawing/2014/main" id="{5F671098-9D7C-F28D-BEA0-0832B49D9BD9}"/>
              </a:ext>
            </a:extLst>
          </p:cNvPr>
          <p:cNvGrpSpPr/>
          <p:nvPr/>
        </p:nvGrpSpPr>
        <p:grpSpPr>
          <a:xfrm>
            <a:off x="4001212" y="2227600"/>
            <a:ext cx="1424424" cy="740398"/>
            <a:chOff x="0" y="0"/>
            <a:chExt cx="543300" cy="195011"/>
          </a:xfrm>
        </p:grpSpPr>
        <p:sp>
          <p:nvSpPr>
            <p:cNvPr id="268" name="Google Shape;268;p24">
              <a:extLst>
                <a:ext uri="{FF2B5EF4-FFF2-40B4-BE49-F238E27FC236}">
                  <a16:creationId xmlns:a16="http://schemas.microsoft.com/office/drawing/2014/main" id="{45454242-3658-C9EF-6911-7840029E9854}"/>
                </a:ext>
              </a:extLst>
            </p:cNvPr>
            <p:cNvSpPr/>
            <p:nvPr/>
          </p:nvSpPr>
          <p:spPr>
            <a:xfrm>
              <a:off x="0" y="0"/>
              <a:ext cx="543248" cy="195011"/>
            </a:xfrm>
            <a:custGeom>
              <a:avLst/>
              <a:gdLst/>
              <a:ahLst/>
              <a:cxnLst/>
              <a:rect l="l" t="t" r="r" b="b"/>
              <a:pathLst>
                <a:path w="543248" h="195011" extrusionOk="0">
                  <a:moveTo>
                    <a:pt x="97505" y="0"/>
                  </a:moveTo>
                  <a:lnTo>
                    <a:pt x="445742" y="0"/>
                  </a:lnTo>
                  <a:cubicBezTo>
                    <a:pt x="471602" y="0"/>
                    <a:pt x="496403" y="10273"/>
                    <a:pt x="514689" y="28559"/>
                  </a:cubicBezTo>
                  <a:cubicBezTo>
                    <a:pt x="532975" y="46845"/>
                    <a:pt x="543248" y="71645"/>
                    <a:pt x="543248" y="97505"/>
                  </a:cubicBezTo>
                  <a:lnTo>
                    <a:pt x="543248" y="97505"/>
                  </a:lnTo>
                  <a:cubicBezTo>
                    <a:pt x="543248" y="151356"/>
                    <a:pt x="499593" y="195011"/>
                    <a:pt x="445742" y="195011"/>
                  </a:cubicBezTo>
                  <a:lnTo>
                    <a:pt x="97505" y="195011"/>
                  </a:lnTo>
                  <a:cubicBezTo>
                    <a:pt x="43655" y="195011"/>
                    <a:pt x="0" y="151356"/>
                    <a:pt x="0" y="97505"/>
                  </a:cubicBezTo>
                  <a:lnTo>
                    <a:pt x="0" y="97505"/>
                  </a:lnTo>
                  <a:cubicBezTo>
                    <a:pt x="0" y="43655"/>
                    <a:pt x="43655" y="0"/>
                    <a:pt x="975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>
              <a:extLst>
                <a:ext uri="{FF2B5EF4-FFF2-40B4-BE49-F238E27FC236}">
                  <a16:creationId xmlns:a16="http://schemas.microsoft.com/office/drawing/2014/main" id="{1E2084DC-408A-994A-A2DC-0640A43590D1}"/>
                </a:ext>
              </a:extLst>
            </p:cNvPr>
            <p:cNvSpPr txBox="1"/>
            <p:nvPr/>
          </p:nvSpPr>
          <p:spPr>
            <a:xfrm>
              <a:off x="0" y="0"/>
              <a:ext cx="5433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24">
            <a:extLst>
              <a:ext uri="{FF2B5EF4-FFF2-40B4-BE49-F238E27FC236}">
                <a16:creationId xmlns:a16="http://schemas.microsoft.com/office/drawing/2014/main" id="{12D152EF-3317-A46E-738D-9017FCF9AD4D}"/>
              </a:ext>
            </a:extLst>
          </p:cNvPr>
          <p:cNvSpPr txBox="1"/>
          <p:nvPr/>
        </p:nvSpPr>
        <p:spPr>
          <a:xfrm>
            <a:off x="4101000" y="2372510"/>
            <a:ext cx="128025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 err="1"/>
              <a:t>과목상세</a:t>
            </a:r>
            <a:endParaRPr lang="ko-KR" altLang="en-US" dirty="0"/>
          </a:p>
        </p:txBody>
      </p:sp>
      <p:grpSp>
        <p:nvGrpSpPr>
          <p:cNvPr id="271" name="Google Shape;271;p24">
            <a:extLst>
              <a:ext uri="{FF2B5EF4-FFF2-40B4-BE49-F238E27FC236}">
                <a16:creationId xmlns:a16="http://schemas.microsoft.com/office/drawing/2014/main" id="{3BF92175-A768-732C-1055-7C1718CDFB9A}"/>
              </a:ext>
            </a:extLst>
          </p:cNvPr>
          <p:cNvGrpSpPr/>
          <p:nvPr/>
        </p:nvGrpSpPr>
        <p:grpSpPr>
          <a:xfrm>
            <a:off x="9432100" y="2591850"/>
            <a:ext cx="8289024" cy="7039058"/>
            <a:chOff x="0" y="0"/>
            <a:chExt cx="4466069" cy="1893900"/>
          </a:xfrm>
        </p:grpSpPr>
        <p:sp>
          <p:nvSpPr>
            <p:cNvPr id="272" name="Google Shape;272;p24">
              <a:extLst>
                <a:ext uri="{FF2B5EF4-FFF2-40B4-BE49-F238E27FC236}">
                  <a16:creationId xmlns:a16="http://schemas.microsoft.com/office/drawing/2014/main" id="{1906567D-B90B-9462-D53A-758F2FD15DE6}"/>
                </a:ext>
              </a:extLst>
            </p:cNvPr>
            <p:cNvSpPr/>
            <p:nvPr/>
          </p:nvSpPr>
          <p:spPr>
            <a:xfrm>
              <a:off x="0" y="0"/>
              <a:ext cx="4445958" cy="1893838"/>
            </a:xfrm>
            <a:custGeom>
              <a:avLst/>
              <a:gdLst/>
              <a:ahLst/>
              <a:cxnLst/>
              <a:rect l="l" t="t" r="r" b="b"/>
              <a:pathLst>
                <a:path w="4445958" h="1893838" extrusionOk="0">
                  <a:moveTo>
                    <a:pt x="23390" y="0"/>
                  </a:moveTo>
                  <a:lnTo>
                    <a:pt x="4422568" y="0"/>
                  </a:lnTo>
                  <a:cubicBezTo>
                    <a:pt x="4435486" y="0"/>
                    <a:pt x="4445958" y="10472"/>
                    <a:pt x="4445958" y="23390"/>
                  </a:cubicBezTo>
                  <a:lnTo>
                    <a:pt x="4445958" y="1870448"/>
                  </a:lnTo>
                  <a:cubicBezTo>
                    <a:pt x="4445958" y="1876651"/>
                    <a:pt x="4443494" y="1882601"/>
                    <a:pt x="4439107" y="1886987"/>
                  </a:cubicBezTo>
                  <a:cubicBezTo>
                    <a:pt x="4434721" y="1891374"/>
                    <a:pt x="4428772" y="1893838"/>
                    <a:pt x="4422568" y="1893838"/>
                  </a:cubicBezTo>
                  <a:lnTo>
                    <a:pt x="23390" y="1893838"/>
                  </a:lnTo>
                  <a:cubicBezTo>
                    <a:pt x="10472" y="1893838"/>
                    <a:pt x="0" y="1883366"/>
                    <a:pt x="0" y="1870448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>
              <a:extLst>
                <a:ext uri="{FF2B5EF4-FFF2-40B4-BE49-F238E27FC236}">
                  <a16:creationId xmlns:a16="http://schemas.microsoft.com/office/drawing/2014/main" id="{99BD98E0-42C9-F666-8511-B5F8FB8AF944}"/>
                </a:ext>
              </a:extLst>
            </p:cNvPr>
            <p:cNvSpPr txBox="1"/>
            <p:nvPr/>
          </p:nvSpPr>
          <p:spPr>
            <a:xfrm>
              <a:off x="20069" y="0"/>
              <a:ext cx="4446000" cy="189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4">
            <a:extLst>
              <a:ext uri="{FF2B5EF4-FFF2-40B4-BE49-F238E27FC236}">
                <a16:creationId xmlns:a16="http://schemas.microsoft.com/office/drawing/2014/main" id="{CD1BE085-A0BA-6E88-75F4-6834F5A6B197}"/>
              </a:ext>
            </a:extLst>
          </p:cNvPr>
          <p:cNvGrpSpPr/>
          <p:nvPr/>
        </p:nvGrpSpPr>
        <p:grpSpPr>
          <a:xfrm>
            <a:off x="12681313" y="2227600"/>
            <a:ext cx="1790608" cy="740398"/>
            <a:chOff x="0" y="0"/>
            <a:chExt cx="543300" cy="195011"/>
          </a:xfrm>
        </p:grpSpPr>
        <p:sp>
          <p:nvSpPr>
            <p:cNvPr id="275" name="Google Shape;275;p24">
              <a:extLst>
                <a:ext uri="{FF2B5EF4-FFF2-40B4-BE49-F238E27FC236}">
                  <a16:creationId xmlns:a16="http://schemas.microsoft.com/office/drawing/2014/main" id="{90510B1C-B9A6-58B9-C6AA-357D94EC42E8}"/>
                </a:ext>
              </a:extLst>
            </p:cNvPr>
            <p:cNvSpPr/>
            <p:nvPr/>
          </p:nvSpPr>
          <p:spPr>
            <a:xfrm>
              <a:off x="0" y="0"/>
              <a:ext cx="543248" cy="195011"/>
            </a:xfrm>
            <a:custGeom>
              <a:avLst/>
              <a:gdLst/>
              <a:ahLst/>
              <a:cxnLst/>
              <a:rect l="l" t="t" r="r" b="b"/>
              <a:pathLst>
                <a:path w="543248" h="195011" extrusionOk="0">
                  <a:moveTo>
                    <a:pt x="97505" y="0"/>
                  </a:moveTo>
                  <a:lnTo>
                    <a:pt x="445742" y="0"/>
                  </a:lnTo>
                  <a:cubicBezTo>
                    <a:pt x="471602" y="0"/>
                    <a:pt x="496403" y="10273"/>
                    <a:pt x="514689" y="28559"/>
                  </a:cubicBezTo>
                  <a:cubicBezTo>
                    <a:pt x="532975" y="46845"/>
                    <a:pt x="543248" y="71645"/>
                    <a:pt x="543248" y="97505"/>
                  </a:cubicBezTo>
                  <a:lnTo>
                    <a:pt x="543248" y="97505"/>
                  </a:lnTo>
                  <a:cubicBezTo>
                    <a:pt x="543248" y="151356"/>
                    <a:pt x="499593" y="195011"/>
                    <a:pt x="445742" y="195011"/>
                  </a:cubicBezTo>
                  <a:lnTo>
                    <a:pt x="97505" y="195011"/>
                  </a:lnTo>
                  <a:cubicBezTo>
                    <a:pt x="43655" y="195011"/>
                    <a:pt x="0" y="151356"/>
                    <a:pt x="0" y="97505"/>
                  </a:cubicBezTo>
                  <a:lnTo>
                    <a:pt x="0" y="97505"/>
                  </a:lnTo>
                  <a:cubicBezTo>
                    <a:pt x="0" y="43655"/>
                    <a:pt x="43655" y="0"/>
                    <a:pt x="9750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4">
              <a:extLst>
                <a:ext uri="{FF2B5EF4-FFF2-40B4-BE49-F238E27FC236}">
                  <a16:creationId xmlns:a16="http://schemas.microsoft.com/office/drawing/2014/main" id="{34E37701-6667-D06E-FFF6-F067AEFF30E0}"/>
                </a:ext>
              </a:extLst>
            </p:cNvPr>
            <p:cNvSpPr txBox="1"/>
            <p:nvPr/>
          </p:nvSpPr>
          <p:spPr>
            <a:xfrm>
              <a:off x="0" y="0"/>
              <a:ext cx="5433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24">
            <a:extLst>
              <a:ext uri="{FF2B5EF4-FFF2-40B4-BE49-F238E27FC236}">
                <a16:creationId xmlns:a16="http://schemas.microsoft.com/office/drawing/2014/main" id="{9A60E413-6E47-6B37-323C-FAB1FB63965F}"/>
              </a:ext>
            </a:extLst>
          </p:cNvPr>
          <p:cNvSpPr txBox="1"/>
          <p:nvPr/>
        </p:nvSpPr>
        <p:spPr>
          <a:xfrm>
            <a:off x="12825335" y="2372510"/>
            <a:ext cx="15366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/>
              <a:t>성취</a:t>
            </a:r>
            <a:endParaRPr lang="ko-KR" altLang="en-US" dirty="0"/>
          </a:p>
        </p:txBody>
      </p:sp>
      <p:sp>
        <p:nvSpPr>
          <p:cNvPr id="278" name="Google Shape;278;p24">
            <a:extLst>
              <a:ext uri="{FF2B5EF4-FFF2-40B4-BE49-F238E27FC236}">
                <a16:creationId xmlns:a16="http://schemas.microsoft.com/office/drawing/2014/main" id="{8C117817-AED4-70A1-25A3-EA1BE7004527}"/>
              </a:ext>
            </a:extLst>
          </p:cNvPr>
          <p:cNvSpPr txBox="1"/>
          <p:nvPr/>
        </p:nvSpPr>
        <p:spPr>
          <a:xfrm>
            <a:off x="542475" y="437575"/>
            <a:ext cx="8573700" cy="15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8" dirty="0">
                <a:solidFill>
                  <a:srgbClr val="191919"/>
                </a:solidFill>
              </a:rPr>
              <a:t>3. </a:t>
            </a:r>
            <a:r>
              <a:rPr lang="ko-KR" altLang="en-US" sz="6998" dirty="0">
                <a:solidFill>
                  <a:srgbClr val="191919"/>
                </a:solidFill>
              </a:rPr>
              <a:t>결과</a:t>
            </a:r>
            <a:r>
              <a:rPr lang="en-US" sz="6998" dirty="0">
                <a:solidFill>
                  <a:srgbClr val="191919"/>
                </a:solidFill>
              </a:rPr>
              <a:t> </a:t>
            </a:r>
            <a:endParaRPr sz="6998" dirty="0">
              <a:solidFill>
                <a:srgbClr val="19191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1C215-BDB8-7535-47B3-3CEC7C962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1B8D3A-03C3-C5BE-0D9F-C74F4D766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73" y="3688706"/>
            <a:ext cx="7446508" cy="4689787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417824-7F2E-08F1-F522-37298B133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584" y="5715839"/>
            <a:ext cx="4687815" cy="3503927"/>
          </a:xfrm>
          <a:prstGeom prst="rect">
            <a:avLst/>
          </a:prstGeom>
        </p:spPr>
      </p:pic>
      <p:pic>
        <p:nvPicPr>
          <p:cNvPr id="8" name="그림 7" descr="텍스트, 스크린샷, 직사각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71AB1B-1692-6043-3284-E231AB4E3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4110" y="3488240"/>
            <a:ext cx="5563817" cy="222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4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6A6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376452CE-535A-0CAC-B881-B2605CF5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050BBE-C354-F900-EAE4-96523D9BED6D}"/>
              </a:ext>
            </a:extLst>
          </p:cNvPr>
          <p:cNvSpPr txBox="1"/>
          <p:nvPr/>
        </p:nvSpPr>
        <p:spPr>
          <a:xfrm>
            <a:off x="4819650" y="4097059"/>
            <a:ext cx="86487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0">
                <a:latin typeface="Canva San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912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77</TotalTime>
  <Pages>13</Pages>
  <Words>266</Words>
  <Characters>0</Characters>
  <Application>Microsoft Office PowerPoint</Application>
  <DocSecurity>0</DocSecurity>
  <PresentationFormat>사용자 지정</PresentationFormat>
  <Lines>0</Lines>
  <Paragraphs>71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Canva Sans</vt:lpstr>
      <vt:lpstr>Jalnan 2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경석 김</cp:lastModifiedBy>
  <cp:revision>6</cp:revision>
  <dcterms:modified xsi:type="dcterms:W3CDTF">2025-12-15T13:54:40Z</dcterms:modified>
  <cp:version>10.105.224.52366</cp:version>
</cp:coreProperties>
</file>